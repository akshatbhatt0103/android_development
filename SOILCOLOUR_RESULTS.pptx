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9" d="100"/>
          <a:sy n="69" d="100"/>
        </p:scale>
        <p:origin x="85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17D07-1AF0-4A6F-89A5-E8DDBB89884C}" type="datetimeFigureOut">
              <a:rPr lang="en-IN" smtClean="0"/>
              <a:t>17-08-2022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20366-764A-45BE-BB81-F3387CA1AA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75235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17D07-1AF0-4A6F-89A5-E8DDBB89884C}" type="datetimeFigureOut">
              <a:rPr lang="en-IN" smtClean="0"/>
              <a:t>17-08-2022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20366-764A-45BE-BB81-F3387CA1AA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04115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17D07-1AF0-4A6F-89A5-E8DDBB89884C}" type="datetimeFigureOut">
              <a:rPr lang="en-IN" smtClean="0"/>
              <a:t>17-08-2022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20366-764A-45BE-BB81-F3387CA1AA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76604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17D07-1AF0-4A6F-89A5-E8DDBB89884C}" type="datetimeFigureOut">
              <a:rPr lang="en-IN" smtClean="0"/>
              <a:t>17-08-2022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20366-764A-45BE-BB81-F3387CA1AA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95224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17D07-1AF0-4A6F-89A5-E8DDBB89884C}" type="datetimeFigureOut">
              <a:rPr lang="en-IN" smtClean="0"/>
              <a:t>17-08-2022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20366-764A-45BE-BB81-F3387CA1AA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07425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17D07-1AF0-4A6F-89A5-E8DDBB89884C}" type="datetimeFigureOut">
              <a:rPr lang="en-IN" smtClean="0"/>
              <a:t>17-08-2022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20366-764A-45BE-BB81-F3387CA1AA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8369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17D07-1AF0-4A6F-89A5-E8DDBB89884C}" type="datetimeFigureOut">
              <a:rPr lang="en-IN" smtClean="0"/>
              <a:t>17-08-2022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20366-764A-45BE-BB81-F3387CA1AA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94262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17D07-1AF0-4A6F-89A5-E8DDBB89884C}" type="datetimeFigureOut">
              <a:rPr lang="en-IN" smtClean="0"/>
              <a:t>17-08-2022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20366-764A-45BE-BB81-F3387CA1AA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0485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17D07-1AF0-4A6F-89A5-E8DDBB89884C}" type="datetimeFigureOut">
              <a:rPr lang="en-IN" smtClean="0"/>
              <a:t>17-08-2022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20366-764A-45BE-BB81-F3387CA1AA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63185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17D07-1AF0-4A6F-89A5-E8DDBB89884C}" type="datetimeFigureOut">
              <a:rPr lang="en-IN" smtClean="0"/>
              <a:t>17-08-2022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20366-764A-45BE-BB81-F3387CA1AA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37861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17D07-1AF0-4A6F-89A5-E8DDBB89884C}" type="datetimeFigureOut">
              <a:rPr lang="en-IN" smtClean="0"/>
              <a:t>17-08-2022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20366-764A-45BE-BB81-F3387CA1AA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19385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117D07-1AF0-4A6F-89A5-E8DDBB89884C}" type="datetimeFigureOut">
              <a:rPr lang="en-IN" smtClean="0"/>
              <a:t>17-08-2022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320366-764A-45BE-BB81-F3387CA1AA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69475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/>
          <p:cNvSpPr txBox="1"/>
          <p:nvPr/>
        </p:nvSpPr>
        <p:spPr>
          <a:xfrm>
            <a:off x="4096512" y="215586"/>
            <a:ext cx="38404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b="1" dirty="0" smtClean="0"/>
              <a:t>Data – </a:t>
            </a:r>
            <a:r>
              <a:rPr lang="en-IN" sz="2000" b="1" dirty="0"/>
              <a:t>W</a:t>
            </a:r>
            <a:r>
              <a:rPr lang="en-IN" sz="2000" b="1" dirty="0" smtClean="0"/>
              <a:t>ith binning</a:t>
            </a:r>
            <a:endParaRPr lang="en-IN" sz="2000" b="1" dirty="0"/>
          </a:p>
        </p:txBody>
      </p:sp>
      <p:graphicFrame>
        <p:nvGraphicFramePr>
          <p:cNvPr id="14" name="Table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9796044"/>
              </p:ext>
            </p:extLst>
          </p:nvPr>
        </p:nvGraphicFramePr>
        <p:xfrm>
          <a:off x="329184" y="615696"/>
          <a:ext cx="10229088" cy="1828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94688">
                  <a:extLst>
                    <a:ext uri="{9D8B030D-6E8A-4147-A177-3AD203B41FA5}">
                      <a16:colId xmlns:a16="http://schemas.microsoft.com/office/drawing/2014/main" val="2288714238"/>
                    </a:ext>
                  </a:extLst>
                </a:gridCol>
                <a:gridCol w="1402080">
                  <a:extLst>
                    <a:ext uri="{9D8B030D-6E8A-4147-A177-3AD203B41FA5}">
                      <a16:colId xmlns:a16="http://schemas.microsoft.com/office/drawing/2014/main" val="1548211853"/>
                    </a:ext>
                  </a:extLst>
                </a:gridCol>
                <a:gridCol w="7132320">
                  <a:extLst>
                    <a:ext uri="{9D8B030D-6E8A-4147-A177-3AD203B41FA5}">
                      <a16:colId xmlns:a16="http://schemas.microsoft.com/office/drawing/2014/main" val="168669369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IN" sz="1400" b="1" dirty="0" smtClean="0"/>
                        <a:t>WBC</a:t>
                      </a:r>
                      <a:endParaRPr lang="en-IN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 dirty="0" err="1" smtClean="0"/>
                        <a:t>Color</a:t>
                      </a:r>
                      <a:r>
                        <a:rPr lang="en-IN" sz="1400" b="1" dirty="0" smtClean="0"/>
                        <a:t> space</a:t>
                      </a:r>
                      <a:endParaRPr lang="en-IN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 smtClean="0"/>
                        <a:t>Prediction Equations</a:t>
                      </a:r>
                      <a:endParaRPr lang="en-IN" sz="1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2627626"/>
                  </a:ext>
                </a:extLst>
              </a:tr>
              <a:tr h="0">
                <a:tc rowSpan="5">
                  <a:txBody>
                    <a:bodyPr/>
                    <a:lstStyle/>
                    <a:p>
                      <a:r>
                        <a:rPr lang="en-IN" sz="1400" b="1" dirty="0" smtClean="0"/>
                        <a:t>Texture -3</a:t>
                      </a:r>
                      <a:r>
                        <a:rPr lang="en-IN" sz="1400" dirty="0" smtClean="0"/>
                        <a:t> </a:t>
                      </a:r>
                    </a:p>
                    <a:p>
                      <a:endParaRPr lang="en-IN" sz="1400" dirty="0" smtClean="0"/>
                    </a:p>
                    <a:p>
                      <a:r>
                        <a:rPr lang="en-IN" sz="1400" dirty="0" smtClean="0"/>
                        <a:t>Medium texture</a:t>
                      </a:r>
                      <a:r>
                        <a:rPr lang="en-IN" sz="1400" baseline="0" dirty="0" smtClean="0"/>
                        <a:t> group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 dirty="0" smtClean="0"/>
                        <a:t>LAB</a:t>
                      </a:r>
                      <a:endParaRPr lang="en-IN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 smtClean="0"/>
                        <a:t>Organic</a:t>
                      </a:r>
                      <a:r>
                        <a:rPr lang="en-US" sz="1400" b="1" baseline="0" dirty="0" smtClean="0"/>
                        <a:t> carbon = 10.44 – 0.1998 * Lightness</a:t>
                      </a:r>
                      <a:endParaRPr lang="en-IN" sz="1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9411325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 dirty="0" smtClean="0"/>
                        <a:t>LCH</a:t>
                      </a:r>
                      <a:endParaRPr lang="en-IN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OC = 9.69 -0.22 * L + 0.101*C</a:t>
                      </a:r>
                      <a:endParaRPr lang="en-IN" sz="14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0086649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IN" sz="14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XYZ</a:t>
                      </a:r>
                      <a:endParaRPr lang="en-IN" sz="14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 dirty="0" smtClean="0"/>
                        <a:t>Even though got good R</a:t>
                      </a:r>
                      <a:r>
                        <a:rPr lang="en-IN" sz="1400" b="1" baseline="30000" dirty="0" smtClean="0"/>
                        <a:t>2</a:t>
                      </a:r>
                      <a:r>
                        <a:rPr lang="en-IN" sz="1400" b="1" dirty="0" smtClean="0"/>
                        <a:t> values, Relationship</a:t>
                      </a:r>
                      <a:r>
                        <a:rPr lang="en-IN" sz="1400" b="1" baseline="0" dirty="0" smtClean="0"/>
                        <a:t> non-significant, so didn’t prepared equation </a:t>
                      </a:r>
                      <a:endParaRPr lang="en-IN" sz="1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3595180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IN" sz="14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RGB</a:t>
                      </a:r>
                      <a:endParaRPr lang="en-IN" sz="14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 dirty="0" smtClean="0"/>
                        <a:t>Even though got good R</a:t>
                      </a:r>
                      <a:r>
                        <a:rPr lang="en-IN" sz="1400" b="1" baseline="30000" dirty="0" smtClean="0"/>
                        <a:t>2</a:t>
                      </a:r>
                      <a:r>
                        <a:rPr lang="en-IN" sz="1400" b="1" dirty="0" smtClean="0"/>
                        <a:t> values, Relationship</a:t>
                      </a:r>
                      <a:r>
                        <a:rPr lang="en-IN" sz="1400" b="1" baseline="0" dirty="0" smtClean="0"/>
                        <a:t> non-significant, so didn’t prepared equation </a:t>
                      </a:r>
                      <a:endParaRPr lang="en-IN" sz="1400" b="1" dirty="0" smtClean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237690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 dirty="0" smtClean="0"/>
                        <a:t>CMYK</a:t>
                      </a:r>
                      <a:endParaRPr lang="en-IN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 dirty="0" smtClean="0"/>
                        <a:t>OC = 35.66* Y – 22.404</a:t>
                      </a:r>
                      <a:endParaRPr lang="en-IN" sz="1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2326386"/>
                  </a:ext>
                </a:extLst>
              </a:tr>
            </a:tbl>
          </a:graphicData>
        </a:graphic>
      </p:graphicFrame>
      <p:graphicFrame>
        <p:nvGraphicFramePr>
          <p:cNvPr id="15" name="Table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8059652"/>
              </p:ext>
            </p:extLst>
          </p:nvPr>
        </p:nvGraphicFramePr>
        <p:xfrm>
          <a:off x="329184" y="2670048"/>
          <a:ext cx="10229088" cy="1828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94688">
                  <a:extLst>
                    <a:ext uri="{9D8B030D-6E8A-4147-A177-3AD203B41FA5}">
                      <a16:colId xmlns:a16="http://schemas.microsoft.com/office/drawing/2014/main" val="2288714238"/>
                    </a:ext>
                  </a:extLst>
                </a:gridCol>
                <a:gridCol w="1402080">
                  <a:extLst>
                    <a:ext uri="{9D8B030D-6E8A-4147-A177-3AD203B41FA5}">
                      <a16:colId xmlns:a16="http://schemas.microsoft.com/office/drawing/2014/main" val="1548211853"/>
                    </a:ext>
                  </a:extLst>
                </a:gridCol>
                <a:gridCol w="7132320">
                  <a:extLst>
                    <a:ext uri="{9D8B030D-6E8A-4147-A177-3AD203B41FA5}">
                      <a16:colId xmlns:a16="http://schemas.microsoft.com/office/drawing/2014/main" val="168669369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IN" sz="1400" b="1" dirty="0" smtClean="0"/>
                        <a:t>WBC</a:t>
                      </a:r>
                      <a:endParaRPr lang="en-IN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 dirty="0" err="1" smtClean="0"/>
                        <a:t>Color</a:t>
                      </a:r>
                      <a:r>
                        <a:rPr lang="en-IN" sz="1400" b="1" dirty="0" smtClean="0"/>
                        <a:t> space</a:t>
                      </a:r>
                      <a:endParaRPr lang="en-IN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 smtClean="0"/>
                        <a:t>Prediction Equations</a:t>
                      </a:r>
                      <a:endParaRPr lang="en-IN" sz="1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2627626"/>
                  </a:ext>
                </a:extLst>
              </a:tr>
              <a:tr h="0">
                <a:tc rowSpan="5">
                  <a:txBody>
                    <a:bodyPr/>
                    <a:lstStyle/>
                    <a:p>
                      <a:r>
                        <a:rPr lang="en-IN" sz="1400" b="1" dirty="0" smtClean="0"/>
                        <a:t>Texture -1</a:t>
                      </a:r>
                      <a:r>
                        <a:rPr lang="en-IN" sz="1400" dirty="0" smtClean="0"/>
                        <a:t> </a:t>
                      </a:r>
                    </a:p>
                    <a:p>
                      <a:endParaRPr lang="en-IN" sz="1400" dirty="0" smtClean="0"/>
                    </a:p>
                    <a:p>
                      <a:r>
                        <a:rPr lang="en-IN" sz="1400" dirty="0" smtClean="0"/>
                        <a:t>Fine texture</a:t>
                      </a:r>
                      <a:r>
                        <a:rPr lang="en-IN" sz="1400" baseline="0" dirty="0" smtClean="0"/>
                        <a:t> group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 dirty="0" smtClean="0"/>
                        <a:t>LAB</a:t>
                      </a:r>
                      <a:endParaRPr lang="en-IN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 smtClean="0"/>
                        <a:t>Organic</a:t>
                      </a:r>
                      <a:r>
                        <a:rPr lang="en-US" sz="1400" b="1" baseline="0" dirty="0" smtClean="0"/>
                        <a:t> carbon = 7.241 – 0.1342 * Lightness</a:t>
                      </a:r>
                      <a:endParaRPr lang="en-IN" sz="1400" b="1" dirty="0" smtClean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9411325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 dirty="0" smtClean="0"/>
                        <a:t>LCH</a:t>
                      </a:r>
                      <a:endParaRPr lang="en-IN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 dirty="0" smtClean="0"/>
                        <a:t>Even though got good R</a:t>
                      </a:r>
                      <a:r>
                        <a:rPr lang="en-IN" sz="1400" b="1" baseline="30000" dirty="0" smtClean="0"/>
                        <a:t>2</a:t>
                      </a:r>
                      <a:r>
                        <a:rPr lang="en-IN" sz="1400" b="1" dirty="0" smtClean="0"/>
                        <a:t> values, Relationship</a:t>
                      </a:r>
                      <a:r>
                        <a:rPr lang="en-IN" sz="1400" b="1" baseline="0" dirty="0" smtClean="0"/>
                        <a:t> non-significant, so didn’t prepared equation </a:t>
                      </a:r>
                      <a:endParaRPr lang="en-IN" sz="1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0086649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IN" sz="14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XYZ</a:t>
                      </a:r>
                      <a:endParaRPr lang="en-IN" sz="14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 dirty="0" smtClean="0"/>
                        <a:t>Even though got good R</a:t>
                      </a:r>
                      <a:r>
                        <a:rPr lang="en-IN" sz="1400" b="1" baseline="30000" dirty="0" smtClean="0"/>
                        <a:t>2</a:t>
                      </a:r>
                      <a:r>
                        <a:rPr lang="en-IN" sz="1400" b="1" dirty="0" smtClean="0"/>
                        <a:t> values, Relationship</a:t>
                      </a:r>
                      <a:r>
                        <a:rPr lang="en-IN" sz="1400" b="1" baseline="0" dirty="0" smtClean="0"/>
                        <a:t> non-significant, so didn’t prepared equation </a:t>
                      </a:r>
                      <a:endParaRPr lang="en-IN" sz="1400" b="1" dirty="0" smtClean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3595180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IN" sz="14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RGB</a:t>
                      </a:r>
                      <a:endParaRPr lang="en-IN" sz="14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 dirty="0" smtClean="0"/>
                        <a:t>Even though got good R</a:t>
                      </a:r>
                      <a:r>
                        <a:rPr lang="en-IN" sz="1400" b="1" baseline="30000" dirty="0" smtClean="0"/>
                        <a:t>2</a:t>
                      </a:r>
                      <a:r>
                        <a:rPr lang="en-IN" sz="1400" b="1" dirty="0" smtClean="0"/>
                        <a:t> values, Relationship</a:t>
                      </a:r>
                      <a:r>
                        <a:rPr lang="en-IN" sz="1400" b="1" baseline="0" dirty="0" smtClean="0"/>
                        <a:t> non-significant, so didn’t prepared equation </a:t>
                      </a:r>
                      <a:endParaRPr lang="en-IN" sz="1400" b="1" dirty="0" smtClean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237690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 dirty="0" smtClean="0"/>
                        <a:t>CMYK</a:t>
                      </a:r>
                      <a:endParaRPr lang="en-IN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b="1" dirty="0" smtClean="0"/>
                        <a:t>Even though got good R</a:t>
                      </a:r>
                      <a:r>
                        <a:rPr lang="en-IN" sz="1400" b="1" baseline="30000" dirty="0" smtClean="0"/>
                        <a:t>2</a:t>
                      </a:r>
                      <a:r>
                        <a:rPr lang="en-IN" sz="1400" b="1" dirty="0" smtClean="0"/>
                        <a:t> values, Relationship</a:t>
                      </a:r>
                      <a:r>
                        <a:rPr lang="en-IN" sz="1400" b="1" baseline="0" dirty="0" smtClean="0"/>
                        <a:t> non-significant, so didn’t prepared equation </a:t>
                      </a:r>
                      <a:endParaRPr lang="en-IN" sz="1400" b="1" dirty="0" smtClean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2326386"/>
                  </a:ext>
                </a:extLst>
              </a:tr>
            </a:tbl>
          </a:graphicData>
        </a:graphic>
      </p:graphicFrame>
      <p:graphicFrame>
        <p:nvGraphicFramePr>
          <p:cNvPr id="16" name="Table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4142073"/>
              </p:ext>
            </p:extLst>
          </p:nvPr>
        </p:nvGraphicFramePr>
        <p:xfrm>
          <a:off x="329184" y="4724400"/>
          <a:ext cx="10229088" cy="1828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94688">
                  <a:extLst>
                    <a:ext uri="{9D8B030D-6E8A-4147-A177-3AD203B41FA5}">
                      <a16:colId xmlns:a16="http://schemas.microsoft.com/office/drawing/2014/main" val="2288714238"/>
                    </a:ext>
                  </a:extLst>
                </a:gridCol>
                <a:gridCol w="1402080">
                  <a:extLst>
                    <a:ext uri="{9D8B030D-6E8A-4147-A177-3AD203B41FA5}">
                      <a16:colId xmlns:a16="http://schemas.microsoft.com/office/drawing/2014/main" val="1548211853"/>
                    </a:ext>
                  </a:extLst>
                </a:gridCol>
                <a:gridCol w="7132320">
                  <a:extLst>
                    <a:ext uri="{9D8B030D-6E8A-4147-A177-3AD203B41FA5}">
                      <a16:colId xmlns:a16="http://schemas.microsoft.com/office/drawing/2014/main" val="168669369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IN" sz="1400" b="1" dirty="0" smtClean="0"/>
                        <a:t>WBC</a:t>
                      </a:r>
                      <a:endParaRPr lang="en-IN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 dirty="0" err="1" smtClean="0"/>
                        <a:t>Color</a:t>
                      </a:r>
                      <a:r>
                        <a:rPr lang="en-IN" sz="1400" b="1" dirty="0" smtClean="0"/>
                        <a:t> space</a:t>
                      </a:r>
                      <a:endParaRPr lang="en-IN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 smtClean="0"/>
                        <a:t>Prediction Equations</a:t>
                      </a:r>
                      <a:endParaRPr lang="en-IN" sz="1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2627626"/>
                  </a:ext>
                </a:extLst>
              </a:tr>
              <a:tr h="0">
                <a:tc rowSpan="5">
                  <a:txBody>
                    <a:bodyPr/>
                    <a:lstStyle/>
                    <a:p>
                      <a:r>
                        <a:rPr lang="en-IN" sz="1400" b="1" dirty="0" smtClean="0"/>
                        <a:t>Texture -2</a:t>
                      </a:r>
                      <a:r>
                        <a:rPr lang="en-IN" sz="1400" dirty="0" smtClean="0"/>
                        <a:t> </a:t>
                      </a:r>
                    </a:p>
                    <a:p>
                      <a:endParaRPr lang="en-IN" sz="1400" dirty="0" smtClean="0"/>
                    </a:p>
                    <a:p>
                      <a:r>
                        <a:rPr lang="en-IN" sz="1400" dirty="0" smtClean="0"/>
                        <a:t>Coarse</a:t>
                      </a:r>
                      <a:r>
                        <a:rPr lang="en-IN" sz="1400" baseline="0" dirty="0" smtClean="0"/>
                        <a:t> </a:t>
                      </a:r>
                      <a:r>
                        <a:rPr lang="en-IN" sz="1400" dirty="0" smtClean="0"/>
                        <a:t>texture</a:t>
                      </a:r>
                      <a:r>
                        <a:rPr lang="en-IN" sz="1400" baseline="0" dirty="0" smtClean="0"/>
                        <a:t> group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 dirty="0" smtClean="0"/>
                        <a:t>LAB</a:t>
                      </a:r>
                      <a:endParaRPr lang="en-IN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 smtClean="0"/>
                        <a:t>Organic</a:t>
                      </a:r>
                      <a:r>
                        <a:rPr lang="en-US" sz="1400" b="1" baseline="0" dirty="0" smtClean="0"/>
                        <a:t> carbon = 9.16 – 0.163* Lightness</a:t>
                      </a:r>
                      <a:endParaRPr lang="en-IN" sz="1400" b="1" dirty="0" smtClean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9411325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 dirty="0" smtClean="0"/>
                        <a:t>LCH</a:t>
                      </a:r>
                      <a:endParaRPr lang="en-IN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 dirty="0" smtClean="0"/>
                        <a:t>Even though got good R</a:t>
                      </a:r>
                      <a:r>
                        <a:rPr lang="en-IN" sz="1400" b="1" baseline="30000" dirty="0" smtClean="0"/>
                        <a:t>2</a:t>
                      </a:r>
                      <a:r>
                        <a:rPr lang="en-IN" sz="1400" b="1" dirty="0" smtClean="0"/>
                        <a:t> values, Relationship</a:t>
                      </a:r>
                      <a:r>
                        <a:rPr lang="en-IN" sz="1400" b="1" baseline="0" dirty="0" smtClean="0"/>
                        <a:t> non-significant, so didn’t prepared equation </a:t>
                      </a:r>
                      <a:endParaRPr lang="en-IN" sz="1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0086649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IN" sz="14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XYZ</a:t>
                      </a:r>
                      <a:endParaRPr lang="en-IN" sz="14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 dirty="0" smtClean="0"/>
                        <a:t>Even though got good R</a:t>
                      </a:r>
                      <a:r>
                        <a:rPr lang="en-IN" sz="1400" b="1" baseline="30000" dirty="0" smtClean="0"/>
                        <a:t>2</a:t>
                      </a:r>
                      <a:r>
                        <a:rPr lang="en-IN" sz="1400" b="1" dirty="0" smtClean="0"/>
                        <a:t> values, Relationship</a:t>
                      </a:r>
                      <a:r>
                        <a:rPr lang="en-IN" sz="1400" b="1" baseline="0" dirty="0" smtClean="0"/>
                        <a:t> non-significant, so didn’t prepared equation </a:t>
                      </a:r>
                      <a:endParaRPr lang="en-IN" sz="1400" b="1" dirty="0" smtClean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3595180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IN" sz="14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RGB</a:t>
                      </a:r>
                      <a:endParaRPr lang="en-IN" sz="14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 dirty="0" smtClean="0"/>
                        <a:t>OC = 10.56 – 0.0713 * 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237690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 dirty="0" smtClean="0"/>
                        <a:t>CMYK</a:t>
                      </a:r>
                      <a:endParaRPr lang="en-IN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b="1" dirty="0" smtClean="0"/>
                        <a:t>Even though got good R</a:t>
                      </a:r>
                      <a:r>
                        <a:rPr lang="en-IN" sz="1400" b="1" baseline="30000" dirty="0" smtClean="0"/>
                        <a:t>2</a:t>
                      </a:r>
                      <a:r>
                        <a:rPr lang="en-IN" sz="1400" b="1" dirty="0" smtClean="0"/>
                        <a:t> values, Relationship</a:t>
                      </a:r>
                      <a:r>
                        <a:rPr lang="en-IN" sz="1400" b="1" baseline="0" dirty="0" smtClean="0"/>
                        <a:t> non-significant, so didn’t prepared equation </a:t>
                      </a:r>
                      <a:endParaRPr lang="en-IN" sz="1400" b="1" dirty="0" smtClean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23263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874730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5791882"/>
              </p:ext>
            </p:extLst>
          </p:nvPr>
        </p:nvGraphicFramePr>
        <p:xfrm>
          <a:off x="329184" y="615696"/>
          <a:ext cx="10282307" cy="227468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703505">
                  <a:extLst>
                    <a:ext uri="{9D8B030D-6E8A-4147-A177-3AD203B41FA5}">
                      <a16:colId xmlns:a16="http://schemas.microsoft.com/office/drawing/2014/main" val="2288714238"/>
                    </a:ext>
                  </a:extLst>
                </a:gridCol>
                <a:gridCol w="1409375">
                  <a:extLst>
                    <a:ext uri="{9D8B030D-6E8A-4147-A177-3AD203B41FA5}">
                      <a16:colId xmlns:a16="http://schemas.microsoft.com/office/drawing/2014/main" val="1548211853"/>
                    </a:ext>
                  </a:extLst>
                </a:gridCol>
                <a:gridCol w="7169427">
                  <a:extLst>
                    <a:ext uri="{9D8B030D-6E8A-4147-A177-3AD203B41FA5}">
                      <a16:colId xmlns:a16="http://schemas.microsoft.com/office/drawing/2014/main" val="1686693694"/>
                    </a:ext>
                  </a:extLst>
                </a:gridCol>
              </a:tblGrid>
              <a:tr h="223885">
                <a:tc>
                  <a:txBody>
                    <a:bodyPr/>
                    <a:lstStyle/>
                    <a:p>
                      <a:r>
                        <a:rPr lang="en-IN" sz="1400" b="1" dirty="0" smtClean="0"/>
                        <a:t>CHNS</a:t>
                      </a:r>
                      <a:endParaRPr lang="en-IN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 dirty="0" err="1" smtClean="0"/>
                        <a:t>Color</a:t>
                      </a:r>
                      <a:r>
                        <a:rPr lang="en-IN" sz="1400" b="1" dirty="0" smtClean="0"/>
                        <a:t> space</a:t>
                      </a:r>
                      <a:endParaRPr lang="en-IN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 smtClean="0"/>
                        <a:t>Prediction Equations</a:t>
                      </a:r>
                      <a:endParaRPr lang="en-IN" sz="1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2627626"/>
                  </a:ext>
                </a:extLst>
              </a:tr>
              <a:tr h="223885">
                <a:tc rowSpan="5">
                  <a:txBody>
                    <a:bodyPr/>
                    <a:lstStyle/>
                    <a:p>
                      <a:r>
                        <a:rPr lang="en-IN" sz="1400" b="1" dirty="0" smtClean="0"/>
                        <a:t>Texture -3</a:t>
                      </a:r>
                      <a:r>
                        <a:rPr lang="en-IN" sz="1400" dirty="0" smtClean="0"/>
                        <a:t> </a:t>
                      </a:r>
                    </a:p>
                    <a:p>
                      <a:endParaRPr lang="en-IN" sz="1400" dirty="0" smtClean="0"/>
                    </a:p>
                    <a:p>
                      <a:r>
                        <a:rPr lang="en-IN" sz="1400" dirty="0" smtClean="0"/>
                        <a:t>Medium texture</a:t>
                      </a:r>
                      <a:r>
                        <a:rPr lang="en-IN" sz="1400" baseline="0" dirty="0" smtClean="0"/>
                        <a:t> group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 dirty="0" smtClean="0"/>
                        <a:t>LAB</a:t>
                      </a:r>
                      <a:endParaRPr lang="en-IN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baseline="0" dirty="0" smtClean="0"/>
                        <a:t>Carbon = 12.624 –0.199 * Lightness – 0.2954 * A</a:t>
                      </a:r>
                      <a:endParaRPr lang="en-IN" sz="1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9411325"/>
                  </a:ext>
                </a:extLst>
              </a:tr>
              <a:tr h="537324"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 dirty="0" smtClean="0"/>
                        <a:t>LCH</a:t>
                      </a:r>
                      <a:endParaRPr lang="en-IN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 = 4.5658 -0.2405*L + 0.1176*H</a:t>
                      </a:r>
                    </a:p>
                    <a:p>
                      <a:pPr algn="ctr"/>
                      <a:r>
                        <a:rPr lang="en-IN" sz="14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 = 9.7950 -0.17755*L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0086649"/>
                  </a:ext>
                </a:extLst>
              </a:tr>
              <a:tr h="505092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IN" sz="14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XYZ</a:t>
                      </a:r>
                      <a:endParaRPr lang="en-IN" sz="14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 smtClean="0"/>
                        <a:t>C=5.9242-1.8463*X</a:t>
                      </a:r>
                      <a:r>
                        <a:rPr lang="en-US" sz="1400" b="1" baseline="0" dirty="0" smtClean="0"/>
                        <a:t> + 1.637*Y</a:t>
                      </a:r>
                      <a:endParaRPr lang="en-IN" sz="1400" b="1" baseline="0" dirty="0" smtClean="0"/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 smtClean="0"/>
                        <a:t>C=4.6377-0.1751*X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3595180"/>
                  </a:ext>
                </a:extLst>
              </a:tr>
              <a:tr h="223885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IN" sz="14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RGB</a:t>
                      </a:r>
                      <a:endParaRPr lang="en-IN" sz="14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 smtClean="0"/>
                        <a:t>C=8.58-0.0536*R</a:t>
                      </a:r>
                      <a:endParaRPr lang="en-IN" sz="1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2376908"/>
                  </a:ext>
                </a:extLst>
              </a:tr>
              <a:tr h="223885"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 dirty="0" smtClean="0"/>
                        <a:t>CMYK</a:t>
                      </a:r>
                      <a:endParaRPr lang="en-IN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 smtClean="0"/>
                        <a:t>C=11.6915-31.999*M+29.389*K</a:t>
                      </a:r>
                      <a:endParaRPr lang="en-IN" sz="1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2326386"/>
                  </a:ext>
                </a:extLst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8648951"/>
              </p:ext>
            </p:extLst>
          </p:nvPr>
        </p:nvGraphicFramePr>
        <p:xfrm>
          <a:off x="329184" y="3040331"/>
          <a:ext cx="10229088" cy="185127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94688">
                  <a:extLst>
                    <a:ext uri="{9D8B030D-6E8A-4147-A177-3AD203B41FA5}">
                      <a16:colId xmlns:a16="http://schemas.microsoft.com/office/drawing/2014/main" val="2288714238"/>
                    </a:ext>
                  </a:extLst>
                </a:gridCol>
                <a:gridCol w="1402080">
                  <a:extLst>
                    <a:ext uri="{9D8B030D-6E8A-4147-A177-3AD203B41FA5}">
                      <a16:colId xmlns:a16="http://schemas.microsoft.com/office/drawing/2014/main" val="1548211853"/>
                    </a:ext>
                  </a:extLst>
                </a:gridCol>
                <a:gridCol w="7132320">
                  <a:extLst>
                    <a:ext uri="{9D8B030D-6E8A-4147-A177-3AD203B41FA5}">
                      <a16:colId xmlns:a16="http://schemas.microsoft.com/office/drawing/2014/main" val="1686693694"/>
                    </a:ext>
                  </a:extLst>
                </a:gridCol>
              </a:tblGrid>
              <a:tr h="257746">
                <a:tc>
                  <a:txBody>
                    <a:bodyPr/>
                    <a:lstStyle/>
                    <a:p>
                      <a:r>
                        <a:rPr lang="en-IN" sz="1400" b="1" dirty="0" smtClean="0"/>
                        <a:t>CHNS</a:t>
                      </a:r>
                      <a:endParaRPr lang="en-IN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 dirty="0" err="1" smtClean="0"/>
                        <a:t>Color</a:t>
                      </a:r>
                      <a:r>
                        <a:rPr lang="en-IN" sz="1400" b="1" dirty="0" smtClean="0"/>
                        <a:t> space</a:t>
                      </a:r>
                      <a:endParaRPr lang="en-IN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 smtClean="0"/>
                        <a:t>Prediction Equations</a:t>
                      </a:r>
                      <a:endParaRPr lang="en-IN" sz="1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2627626"/>
                  </a:ext>
                </a:extLst>
              </a:tr>
              <a:tr h="309295">
                <a:tc rowSpan="5">
                  <a:txBody>
                    <a:bodyPr/>
                    <a:lstStyle/>
                    <a:p>
                      <a:r>
                        <a:rPr lang="en-IN" sz="1400" b="1" dirty="0" smtClean="0"/>
                        <a:t>Texture -2</a:t>
                      </a:r>
                      <a:r>
                        <a:rPr lang="en-IN" sz="1400" dirty="0" smtClean="0"/>
                        <a:t> </a:t>
                      </a:r>
                    </a:p>
                    <a:p>
                      <a:endParaRPr lang="en-IN" sz="1400" dirty="0" smtClean="0"/>
                    </a:p>
                    <a:p>
                      <a:r>
                        <a:rPr lang="en-IN" sz="1400" dirty="0" smtClean="0"/>
                        <a:t>Coarse</a:t>
                      </a:r>
                      <a:r>
                        <a:rPr lang="en-IN" sz="1400" baseline="0" dirty="0" smtClean="0"/>
                        <a:t> </a:t>
                      </a:r>
                      <a:r>
                        <a:rPr lang="en-IN" sz="1400" dirty="0" smtClean="0"/>
                        <a:t>texture</a:t>
                      </a:r>
                      <a:r>
                        <a:rPr lang="en-IN" sz="1400" baseline="0" dirty="0" smtClean="0"/>
                        <a:t> group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 dirty="0" smtClean="0"/>
                        <a:t>LAB</a:t>
                      </a:r>
                      <a:endParaRPr lang="en-IN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 smtClean="0"/>
                        <a:t>C=12.1147-0.1839*L-0.3376*A</a:t>
                      </a:r>
                      <a:endParaRPr lang="en-IN" sz="1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9411325"/>
                  </a:ext>
                </a:extLst>
              </a:tr>
              <a:tr h="309295"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 dirty="0" smtClean="0"/>
                        <a:t>LCH</a:t>
                      </a:r>
                      <a:endParaRPr lang="en-IN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 smtClean="0"/>
                        <a:t>C=2.3925-0.2593*L</a:t>
                      </a:r>
                      <a:r>
                        <a:rPr lang="en-US" sz="1400" b="1" baseline="0" dirty="0" smtClean="0"/>
                        <a:t> -0.1597*H</a:t>
                      </a:r>
                      <a:endParaRPr lang="en-IN" sz="1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0086649"/>
                  </a:ext>
                </a:extLst>
              </a:tr>
              <a:tr h="309295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IN" sz="14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XYZ</a:t>
                      </a:r>
                      <a:endParaRPr lang="en-IN" sz="14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 smtClean="0"/>
                        <a:t>C=6.317-0.2996*X</a:t>
                      </a:r>
                      <a:endParaRPr lang="en-IN" sz="1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3595180"/>
                  </a:ext>
                </a:extLst>
              </a:tr>
              <a:tr h="309295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IN" sz="14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RGB</a:t>
                      </a:r>
                      <a:endParaRPr lang="en-IN" sz="14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 smtClean="0"/>
                        <a:t>C=11.0625-0.0752*R</a:t>
                      </a:r>
                      <a:endParaRPr lang="en-IN" sz="1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2376908"/>
                  </a:ext>
                </a:extLst>
              </a:tr>
              <a:tr h="309295"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 dirty="0" smtClean="0"/>
                        <a:t>CMYK</a:t>
                      </a:r>
                      <a:endParaRPr lang="en-IN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2326386"/>
                  </a:ext>
                </a:extLst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4096512" y="215586"/>
            <a:ext cx="38404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b="1" dirty="0" smtClean="0"/>
              <a:t>Data – </a:t>
            </a:r>
            <a:r>
              <a:rPr lang="en-IN" sz="2000" b="1" dirty="0"/>
              <a:t>W</a:t>
            </a:r>
            <a:r>
              <a:rPr lang="en-IN" sz="2000" b="1" dirty="0" smtClean="0"/>
              <a:t>ith binning</a:t>
            </a:r>
            <a:endParaRPr lang="en-IN" sz="2000" b="1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9938350"/>
              </p:ext>
            </p:extLst>
          </p:nvPr>
        </p:nvGraphicFramePr>
        <p:xfrm>
          <a:off x="329184" y="5029200"/>
          <a:ext cx="10135774" cy="1828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79228">
                  <a:extLst>
                    <a:ext uri="{9D8B030D-6E8A-4147-A177-3AD203B41FA5}">
                      <a16:colId xmlns:a16="http://schemas.microsoft.com/office/drawing/2014/main" val="2288714238"/>
                    </a:ext>
                  </a:extLst>
                </a:gridCol>
                <a:gridCol w="1389290">
                  <a:extLst>
                    <a:ext uri="{9D8B030D-6E8A-4147-A177-3AD203B41FA5}">
                      <a16:colId xmlns:a16="http://schemas.microsoft.com/office/drawing/2014/main" val="1548211853"/>
                    </a:ext>
                  </a:extLst>
                </a:gridCol>
                <a:gridCol w="7067256">
                  <a:extLst>
                    <a:ext uri="{9D8B030D-6E8A-4147-A177-3AD203B41FA5}">
                      <a16:colId xmlns:a16="http://schemas.microsoft.com/office/drawing/2014/main" val="1686693694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r>
                        <a:rPr lang="en-IN" sz="1400" b="1" dirty="0" smtClean="0"/>
                        <a:t>CHNS</a:t>
                      </a:r>
                      <a:endParaRPr lang="en-IN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 dirty="0" err="1" smtClean="0"/>
                        <a:t>Color</a:t>
                      </a:r>
                      <a:r>
                        <a:rPr lang="en-IN" sz="1400" b="1" dirty="0" smtClean="0"/>
                        <a:t> space</a:t>
                      </a:r>
                      <a:endParaRPr lang="en-IN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 smtClean="0"/>
                        <a:t>Prediction Equations</a:t>
                      </a:r>
                      <a:endParaRPr lang="en-IN" sz="1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2627626"/>
                  </a:ext>
                </a:extLst>
              </a:tr>
              <a:tr h="304800">
                <a:tc rowSpan="5">
                  <a:txBody>
                    <a:bodyPr/>
                    <a:lstStyle/>
                    <a:p>
                      <a:r>
                        <a:rPr lang="en-IN" sz="1400" b="1" dirty="0" smtClean="0"/>
                        <a:t>Texture -1</a:t>
                      </a:r>
                      <a:r>
                        <a:rPr lang="en-IN" sz="1400" dirty="0" smtClean="0"/>
                        <a:t> </a:t>
                      </a:r>
                    </a:p>
                    <a:p>
                      <a:endParaRPr lang="en-IN" sz="1400" dirty="0" smtClean="0"/>
                    </a:p>
                    <a:p>
                      <a:r>
                        <a:rPr lang="en-IN" sz="1400" dirty="0" smtClean="0"/>
                        <a:t>Fine texture</a:t>
                      </a:r>
                      <a:r>
                        <a:rPr lang="en-IN" sz="1400" baseline="0" dirty="0" smtClean="0"/>
                        <a:t> group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 dirty="0" smtClean="0"/>
                        <a:t>LAB</a:t>
                      </a:r>
                      <a:endParaRPr lang="en-IN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 smtClean="0"/>
                        <a:t>C=12.047-0.2321*L</a:t>
                      </a:r>
                      <a:endParaRPr lang="en-IN" sz="1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9411325"/>
                  </a:ext>
                </a:extLst>
              </a:tr>
              <a:tr h="304800"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 dirty="0" smtClean="0"/>
                        <a:t>LCH</a:t>
                      </a:r>
                      <a:endParaRPr lang="en-IN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 smtClean="0"/>
                        <a:t>C=12.047-0.2321*L</a:t>
                      </a:r>
                      <a:endParaRPr lang="en-IN" sz="1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0086649"/>
                  </a:ext>
                </a:extLst>
              </a:tr>
              <a:tr h="304800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IN" sz="14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XYZ</a:t>
                      </a:r>
                      <a:endParaRPr lang="en-IN" sz="14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 smtClean="0"/>
                        <a:t>NO SIGNIFICANT.</a:t>
                      </a:r>
                      <a:endParaRPr lang="en-IN" sz="1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3595180"/>
                  </a:ext>
                </a:extLst>
              </a:tr>
              <a:tr h="304800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IN" sz="14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RGB</a:t>
                      </a:r>
                      <a:endParaRPr lang="en-IN" sz="14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 smtClean="0"/>
                        <a:t>NO SIGNIFICANT.</a:t>
                      </a:r>
                      <a:endParaRPr lang="en-IN" sz="1400" b="1" dirty="0" smtClean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2376908"/>
                  </a:ext>
                </a:extLst>
              </a:tr>
              <a:tr h="304800"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 dirty="0" smtClean="0"/>
                        <a:t>CMYK</a:t>
                      </a:r>
                      <a:endParaRPr lang="en-IN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 smtClean="0"/>
                        <a:t>NO SIGNIFICANT.</a:t>
                      </a:r>
                      <a:endParaRPr lang="en-IN" sz="1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23263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147303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3435260"/>
              </p:ext>
            </p:extLst>
          </p:nvPr>
        </p:nvGraphicFramePr>
        <p:xfrm>
          <a:off x="560438" y="2589227"/>
          <a:ext cx="11235125" cy="1828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79228">
                  <a:extLst>
                    <a:ext uri="{9D8B030D-6E8A-4147-A177-3AD203B41FA5}">
                      <a16:colId xmlns:a16="http://schemas.microsoft.com/office/drawing/2014/main" val="2288714238"/>
                    </a:ext>
                  </a:extLst>
                </a:gridCol>
                <a:gridCol w="1389290">
                  <a:extLst>
                    <a:ext uri="{9D8B030D-6E8A-4147-A177-3AD203B41FA5}">
                      <a16:colId xmlns:a16="http://schemas.microsoft.com/office/drawing/2014/main" val="1548211853"/>
                    </a:ext>
                  </a:extLst>
                </a:gridCol>
                <a:gridCol w="7067256">
                  <a:extLst>
                    <a:ext uri="{9D8B030D-6E8A-4147-A177-3AD203B41FA5}">
                      <a16:colId xmlns:a16="http://schemas.microsoft.com/office/drawing/2014/main" val="1686693694"/>
                    </a:ext>
                  </a:extLst>
                </a:gridCol>
                <a:gridCol w="1099351">
                  <a:extLst>
                    <a:ext uri="{9D8B030D-6E8A-4147-A177-3AD203B41FA5}">
                      <a16:colId xmlns:a16="http://schemas.microsoft.com/office/drawing/2014/main" val="425824450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IN" sz="1400" b="1" dirty="0" smtClean="0"/>
                        <a:t>CHNS,N</a:t>
                      </a:r>
                      <a:endParaRPr lang="en-IN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 dirty="0" err="1" smtClean="0"/>
                        <a:t>Color</a:t>
                      </a:r>
                      <a:r>
                        <a:rPr lang="en-IN" sz="1400" b="1" dirty="0" smtClean="0"/>
                        <a:t> space</a:t>
                      </a:r>
                      <a:endParaRPr lang="en-IN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 smtClean="0"/>
                        <a:t>Prediction Equations</a:t>
                      </a:r>
                      <a:endParaRPr lang="en-IN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 smtClean="0"/>
                        <a:t>R</a:t>
                      </a:r>
                      <a:r>
                        <a:rPr lang="en-US" sz="1400" b="1" baseline="30000" dirty="0" smtClean="0"/>
                        <a:t>2</a:t>
                      </a:r>
                      <a:endParaRPr lang="en-IN" sz="1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2627626"/>
                  </a:ext>
                </a:extLst>
              </a:tr>
              <a:tr h="0">
                <a:tc rowSpan="5">
                  <a:txBody>
                    <a:bodyPr/>
                    <a:lstStyle/>
                    <a:p>
                      <a:r>
                        <a:rPr lang="en-IN" sz="1400" b="1" dirty="0" smtClean="0"/>
                        <a:t>Texture -3</a:t>
                      </a:r>
                      <a:r>
                        <a:rPr lang="en-IN" sz="1400" dirty="0" smtClean="0"/>
                        <a:t> </a:t>
                      </a:r>
                    </a:p>
                    <a:p>
                      <a:endParaRPr lang="en-IN" sz="1400" dirty="0" smtClean="0"/>
                    </a:p>
                    <a:p>
                      <a:r>
                        <a:rPr lang="en-IN" sz="1400" dirty="0" smtClean="0"/>
                        <a:t>Medium texture</a:t>
                      </a:r>
                      <a:r>
                        <a:rPr lang="en-IN" sz="1400" baseline="0" dirty="0" smtClean="0"/>
                        <a:t> group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 dirty="0" smtClean="0"/>
                        <a:t>LAB</a:t>
                      </a:r>
                      <a:endParaRPr lang="en-IN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 smtClean="0"/>
                        <a:t>N=0.9080-0.0159*L</a:t>
                      </a:r>
                      <a:endParaRPr lang="en-IN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 dirty="0" smtClean="0"/>
                        <a:t>0.669</a:t>
                      </a:r>
                      <a:endParaRPr lang="en-IN" sz="1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9411325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 dirty="0" smtClean="0"/>
                        <a:t>LCH</a:t>
                      </a:r>
                      <a:endParaRPr lang="en-IN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 smtClean="0"/>
                        <a:t>N=0.9080-0.0159*L</a:t>
                      </a:r>
                      <a:endParaRPr lang="en-IN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 dirty="0" smtClean="0"/>
                        <a:t>0.669</a:t>
                      </a:r>
                      <a:endParaRPr lang="en-IN" sz="1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0086649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IN" sz="14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XYZ</a:t>
                      </a:r>
                      <a:endParaRPr lang="en-IN" sz="14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 smtClean="0"/>
                        <a:t>N=0.4962-0.403*Z</a:t>
                      </a:r>
                      <a:endParaRPr lang="en-IN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 smtClean="0"/>
                        <a:t>0.065</a:t>
                      </a:r>
                      <a:endParaRPr lang="en-IN" sz="1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3595180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IN" sz="14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RGB</a:t>
                      </a:r>
                      <a:endParaRPr lang="en-IN" sz="14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 smtClean="0"/>
                        <a:t>NO SIGNIFICANT.</a:t>
                      </a:r>
                      <a:endParaRPr lang="en-IN" sz="1400" b="1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237690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 dirty="0" smtClean="0"/>
                        <a:t>CMYK</a:t>
                      </a:r>
                      <a:endParaRPr lang="en-IN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 smtClean="0"/>
                        <a:t>NO SIGNIFICANT.</a:t>
                      </a:r>
                      <a:endParaRPr lang="en-IN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2326386"/>
                  </a:ext>
                </a:extLst>
              </a:tr>
            </a:tbl>
          </a:graphicData>
        </a:graphic>
      </p:graphicFrame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3603812"/>
              </p:ext>
            </p:extLst>
          </p:nvPr>
        </p:nvGraphicFramePr>
        <p:xfrm>
          <a:off x="560438" y="471063"/>
          <a:ext cx="10135774" cy="1828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79228">
                  <a:extLst>
                    <a:ext uri="{9D8B030D-6E8A-4147-A177-3AD203B41FA5}">
                      <a16:colId xmlns:a16="http://schemas.microsoft.com/office/drawing/2014/main" val="2288714238"/>
                    </a:ext>
                  </a:extLst>
                </a:gridCol>
                <a:gridCol w="1389290">
                  <a:extLst>
                    <a:ext uri="{9D8B030D-6E8A-4147-A177-3AD203B41FA5}">
                      <a16:colId xmlns:a16="http://schemas.microsoft.com/office/drawing/2014/main" val="1548211853"/>
                    </a:ext>
                  </a:extLst>
                </a:gridCol>
                <a:gridCol w="7067256">
                  <a:extLst>
                    <a:ext uri="{9D8B030D-6E8A-4147-A177-3AD203B41FA5}">
                      <a16:colId xmlns:a16="http://schemas.microsoft.com/office/drawing/2014/main" val="168669369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IN" sz="1400" b="1" dirty="0" smtClean="0"/>
                        <a:t>CHNS</a:t>
                      </a:r>
                      <a:endParaRPr lang="en-IN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 dirty="0" err="1" smtClean="0"/>
                        <a:t>Color</a:t>
                      </a:r>
                      <a:r>
                        <a:rPr lang="en-IN" sz="1400" b="1" dirty="0" smtClean="0"/>
                        <a:t> space</a:t>
                      </a:r>
                      <a:endParaRPr lang="en-IN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 smtClean="0"/>
                        <a:t>Prediction Equations</a:t>
                      </a:r>
                      <a:endParaRPr lang="en-IN" sz="1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2627626"/>
                  </a:ext>
                </a:extLst>
              </a:tr>
              <a:tr h="0">
                <a:tc rowSpan="5">
                  <a:txBody>
                    <a:bodyPr/>
                    <a:lstStyle/>
                    <a:p>
                      <a:r>
                        <a:rPr lang="en-IN" sz="1400" b="1" dirty="0" smtClean="0"/>
                        <a:t>Texture -1</a:t>
                      </a:r>
                      <a:r>
                        <a:rPr lang="en-IN" sz="1400" dirty="0" smtClean="0"/>
                        <a:t> </a:t>
                      </a:r>
                    </a:p>
                    <a:p>
                      <a:endParaRPr lang="en-IN" sz="1400" dirty="0" smtClean="0"/>
                    </a:p>
                    <a:p>
                      <a:r>
                        <a:rPr lang="en-IN" sz="1400" dirty="0" smtClean="0"/>
                        <a:t>Fine texture</a:t>
                      </a:r>
                      <a:r>
                        <a:rPr lang="en-IN" sz="1400" baseline="0" dirty="0" smtClean="0"/>
                        <a:t> group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 dirty="0" smtClean="0"/>
                        <a:t>LAB</a:t>
                      </a:r>
                      <a:endParaRPr lang="en-IN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 smtClean="0"/>
                        <a:t>C=12.047-0.2321*L</a:t>
                      </a:r>
                      <a:endParaRPr lang="en-IN" sz="1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9411325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 dirty="0" smtClean="0"/>
                        <a:t>LCH</a:t>
                      </a:r>
                      <a:endParaRPr lang="en-IN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 smtClean="0"/>
                        <a:t>C=12.047-0.2321*L</a:t>
                      </a:r>
                      <a:endParaRPr lang="en-IN" sz="1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0086649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IN" sz="14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XYZ</a:t>
                      </a:r>
                      <a:endParaRPr lang="en-IN" sz="14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 smtClean="0"/>
                        <a:t>NO SIGNIFICANT.</a:t>
                      </a:r>
                      <a:endParaRPr lang="en-IN" sz="1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3595180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IN" sz="14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RGB</a:t>
                      </a:r>
                      <a:endParaRPr lang="en-IN" sz="14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 smtClean="0"/>
                        <a:t>NO SIGNIFICANT.</a:t>
                      </a:r>
                      <a:endParaRPr lang="en-IN" sz="1400" b="1" dirty="0" smtClean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237690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 dirty="0" smtClean="0"/>
                        <a:t>CMYK</a:t>
                      </a:r>
                      <a:endParaRPr lang="en-IN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 smtClean="0"/>
                        <a:t>NO SIGNIFICANT.</a:t>
                      </a:r>
                      <a:endParaRPr lang="en-IN" sz="1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23263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510598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2015035"/>
              </p:ext>
            </p:extLst>
          </p:nvPr>
        </p:nvGraphicFramePr>
        <p:xfrm>
          <a:off x="466834" y="496529"/>
          <a:ext cx="10229088" cy="1828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94688">
                  <a:extLst>
                    <a:ext uri="{9D8B030D-6E8A-4147-A177-3AD203B41FA5}">
                      <a16:colId xmlns:a16="http://schemas.microsoft.com/office/drawing/2014/main" val="2288714238"/>
                    </a:ext>
                  </a:extLst>
                </a:gridCol>
                <a:gridCol w="1402080">
                  <a:extLst>
                    <a:ext uri="{9D8B030D-6E8A-4147-A177-3AD203B41FA5}">
                      <a16:colId xmlns:a16="http://schemas.microsoft.com/office/drawing/2014/main" val="1548211853"/>
                    </a:ext>
                  </a:extLst>
                </a:gridCol>
                <a:gridCol w="7132320">
                  <a:extLst>
                    <a:ext uri="{9D8B030D-6E8A-4147-A177-3AD203B41FA5}">
                      <a16:colId xmlns:a16="http://schemas.microsoft.com/office/drawing/2014/main" val="168669369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IN" sz="1400" b="1" dirty="0" smtClean="0"/>
                        <a:t>CHNS,N</a:t>
                      </a:r>
                      <a:endParaRPr lang="en-IN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 dirty="0" err="1" smtClean="0"/>
                        <a:t>Color</a:t>
                      </a:r>
                      <a:r>
                        <a:rPr lang="en-IN" sz="1400" b="1" dirty="0" smtClean="0"/>
                        <a:t> space</a:t>
                      </a:r>
                      <a:endParaRPr lang="en-IN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 smtClean="0"/>
                        <a:t>Prediction Equations</a:t>
                      </a:r>
                      <a:endParaRPr lang="en-IN" sz="1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2627626"/>
                  </a:ext>
                </a:extLst>
              </a:tr>
              <a:tr h="0">
                <a:tc rowSpan="5">
                  <a:txBody>
                    <a:bodyPr/>
                    <a:lstStyle/>
                    <a:p>
                      <a:r>
                        <a:rPr lang="en-IN" sz="1400" b="1" dirty="0" smtClean="0"/>
                        <a:t>Texture -2</a:t>
                      </a:r>
                      <a:r>
                        <a:rPr lang="en-IN" sz="1400" dirty="0" smtClean="0"/>
                        <a:t> </a:t>
                      </a:r>
                    </a:p>
                    <a:p>
                      <a:endParaRPr lang="en-IN" sz="1400" dirty="0" smtClean="0"/>
                    </a:p>
                    <a:p>
                      <a:r>
                        <a:rPr lang="en-IN" sz="1400" dirty="0" smtClean="0"/>
                        <a:t>Coarse</a:t>
                      </a:r>
                      <a:r>
                        <a:rPr lang="en-IN" sz="1400" baseline="0" dirty="0" smtClean="0"/>
                        <a:t> </a:t>
                      </a:r>
                      <a:r>
                        <a:rPr lang="en-IN" sz="1400" dirty="0" smtClean="0"/>
                        <a:t>texture</a:t>
                      </a:r>
                      <a:r>
                        <a:rPr lang="en-IN" sz="1400" baseline="0" dirty="0" smtClean="0"/>
                        <a:t> group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 dirty="0" smtClean="0"/>
                        <a:t>LAB</a:t>
                      </a:r>
                      <a:endParaRPr lang="en-IN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 smtClean="0"/>
                        <a:t>N=0.9571-0.0171*L</a:t>
                      </a:r>
                      <a:endParaRPr lang="en-IN" sz="1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9411325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 dirty="0" smtClean="0"/>
                        <a:t>LCH</a:t>
                      </a:r>
                      <a:endParaRPr lang="en-IN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 smtClean="0"/>
                        <a:t>N=0.9571-0.0171*L</a:t>
                      </a:r>
                      <a:endParaRPr lang="en-IN" sz="1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0086649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IN" sz="14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XYZ</a:t>
                      </a:r>
                      <a:endParaRPr lang="en-IN" sz="14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 smtClean="0"/>
                        <a:t>N=0.6126-0.0282*X</a:t>
                      </a:r>
                      <a:endParaRPr lang="en-IN" sz="1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3595180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IN" sz="14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RGB</a:t>
                      </a:r>
                      <a:endParaRPr lang="en-IN" sz="14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 smtClean="0"/>
                        <a:t>N=0.9930-0.0065*R</a:t>
                      </a:r>
                      <a:endParaRPr lang="en-IN" sz="1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237690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 dirty="0" smtClean="0"/>
                        <a:t>CMYK</a:t>
                      </a:r>
                      <a:endParaRPr lang="en-IN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 smtClean="0"/>
                        <a:t>N=2.3155*C- 0.8840</a:t>
                      </a:r>
                      <a:endParaRPr lang="en-IN" sz="1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2326386"/>
                  </a:ext>
                </a:extLst>
              </a:tr>
            </a:tbl>
          </a:graphicData>
        </a:graphic>
      </p:graphicFrame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501621"/>
              </p:ext>
            </p:extLst>
          </p:nvPr>
        </p:nvGraphicFramePr>
        <p:xfrm>
          <a:off x="466834" y="2900516"/>
          <a:ext cx="10229088" cy="1828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94688">
                  <a:extLst>
                    <a:ext uri="{9D8B030D-6E8A-4147-A177-3AD203B41FA5}">
                      <a16:colId xmlns:a16="http://schemas.microsoft.com/office/drawing/2014/main" val="2288714238"/>
                    </a:ext>
                  </a:extLst>
                </a:gridCol>
                <a:gridCol w="1402080">
                  <a:extLst>
                    <a:ext uri="{9D8B030D-6E8A-4147-A177-3AD203B41FA5}">
                      <a16:colId xmlns:a16="http://schemas.microsoft.com/office/drawing/2014/main" val="1548211853"/>
                    </a:ext>
                  </a:extLst>
                </a:gridCol>
                <a:gridCol w="7132320">
                  <a:extLst>
                    <a:ext uri="{9D8B030D-6E8A-4147-A177-3AD203B41FA5}">
                      <a16:colId xmlns:a16="http://schemas.microsoft.com/office/drawing/2014/main" val="168669369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IN" sz="1400" b="1" dirty="0" smtClean="0"/>
                        <a:t>CHNS,N</a:t>
                      </a:r>
                      <a:endParaRPr lang="en-IN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 dirty="0" err="1" smtClean="0"/>
                        <a:t>Color</a:t>
                      </a:r>
                      <a:r>
                        <a:rPr lang="en-IN" sz="1400" b="1" dirty="0" smtClean="0"/>
                        <a:t> space</a:t>
                      </a:r>
                      <a:endParaRPr lang="en-IN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 smtClean="0"/>
                        <a:t>Prediction Equations</a:t>
                      </a:r>
                      <a:endParaRPr lang="en-IN" sz="1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2627626"/>
                  </a:ext>
                </a:extLst>
              </a:tr>
              <a:tr h="0">
                <a:tc rowSpan="5">
                  <a:txBody>
                    <a:bodyPr/>
                    <a:lstStyle/>
                    <a:p>
                      <a:r>
                        <a:rPr lang="en-IN" sz="1400" b="1" dirty="0" smtClean="0"/>
                        <a:t>Texture -1</a:t>
                      </a:r>
                      <a:r>
                        <a:rPr lang="en-IN" sz="1400" dirty="0" smtClean="0"/>
                        <a:t> </a:t>
                      </a:r>
                    </a:p>
                    <a:p>
                      <a:endParaRPr lang="en-IN" sz="1400" dirty="0" smtClean="0"/>
                    </a:p>
                    <a:p>
                      <a:r>
                        <a:rPr lang="en-IN" sz="1400" dirty="0" smtClean="0"/>
                        <a:t>Fine texture</a:t>
                      </a:r>
                      <a:r>
                        <a:rPr lang="en-IN" sz="1400" baseline="0" dirty="0" smtClean="0"/>
                        <a:t> group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 dirty="0" smtClean="0"/>
                        <a:t>LAB</a:t>
                      </a:r>
                      <a:endParaRPr lang="en-IN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 smtClean="0"/>
                        <a:t>N=0.7413-0.0357*B</a:t>
                      </a:r>
                      <a:endParaRPr lang="en-IN" sz="1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9411325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 dirty="0" smtClean="0"/>
                        <a:t>LCH</a:t>
                      </a:r>
                      <a:endParaRPr lang="en-IN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 smtClean="0"/>
                        <a:t>N=0.7362-0.0326*C</a:t>
                      </a:r>
                      <a:endParaRPr lang="en-IN" sz="1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0086649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IN" sz="14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XYZ</a:t>
                      </a:r>
                      <a:endParaRPr lang="en-IN" sz="14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 smtClean="0"/>
                        <a:t>NO SIGNIFICANT.</a:t>
                      </a:r>
                      <a:endParaRPr lang="en-IN" sz="1400" b="1" dirty="0" smtClean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3595180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IN" sz="14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RGB</a:t>
                      </a:r>
                      <a:endParaRPr lang="en-IN" sz="14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 smtClean="0"/>
                        <a:t>NO SIGNIFICANT.</a:t>
                      </a:r>
                      <a:endParaRPr lang="en-IN" sz="1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237690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 dirty="0" smtClean="0"/>
                        <a:t>CMYK</a:t>
                      </a:r>
                      <a:endParaRPr lang="en-IN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 smtClean="0"/>
                        <a:t>NO SIGNIFICANT.</a:t>
                      </a:r>
                      <a:endParaRPr lang="en-IN" sz="1400" b="1" dirty="0" smtClean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23263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530436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618459"/>
              </p:ext>
            </p:extLst>
          </p:nvPr>
        </p:nvGraphicFramePr>
        <p:xfrm>
          <a:off x="462116" y="3117415"/>
          <a:ext cx="10120540" cy="1828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94688">
                  <a:extLst>
                    <a:ext uri="{9D8B030D-6E8A-4147-A177-3AD203B41FA5}">
                      <a16:colId xmlns:a16="http://schemas.microsoft.com/office/drawing/2014/main" val="2288714238"/>
                    </a:ext>
                  </a:extLst>
                </a:gridCol>
                <a:gridCol w="1402080">
                  <a:extLst>
                    <a:ext uri="{9D8B030D-6E8A-4147-A177-3AD203B41FA5}">
                      <a16:colId xmlns:a16="http://schemas.microsoft.com/office/drawing/2014/main" val="1548211853"/>
                    </a:ext>
                  </a:extLst>
                </a:gridCol>
                <a:gridCol w="7023772">
                  <a:extLst>
                    <a:ext uri="{9D8B030D-6E8A-4147-A177-3AD203B41FA5}">
                      <a16:colId xmlns:a16="http://schemas.microsoft.com/office/drawing/2014/main" val="168669369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 smtClean="0"/>
                        <a:t>CLAY</a:t>
                      </a:r>
                      <a:endParaRPr lang="en-IN" sz="1400" b="1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 dirty="0" err="1" smtClean="0"/>
                        <a:t>Color</a:t>
                      </a:r>
                      <a:r>
                        <a:rPr lang="en-IN" sz="1400" b="1" dirty="0" smtClean="0"/>
                        <a:t> space</a:t>
                      </a:r>
                      <a:endParaRPr lang="en-IN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 smtClean="0"/>
                        <a:t>Prediction Equations</a:t>
                      </a:r>
                      <a:endParaRPr lang="en-IN" sz="1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2627626"/>
                  </a:ext>
                </a:extLst>
              </a:tr>
              <a:tr h="0">
                <a:tc rowSpan="5">
                  <a:txBody>
                    <a:bodyPr/>
                    <a:lstStyle/>
                    <a:p>
                      <a:r>
                        <a:rPr lang="en-IN" sz="1400" b="1" dirty="0" smtClean="0"/>
                        <a:t>Texture -2</a:t>
                      </a:r>
                      <a:r>
                        <a:rPr lang="en-IN" sz="1400" dirty="0" smtClean="0"/>
                        <a:t> </a:t>
                      </a:r>
                    </a:p>
                    <a:p>
                      <a:endParaRPr lang="en-IN" sz="1400" dirty="0" smtClean="0"/>
                    </a:p>
                    <a:p>
                      <a:r>
                        <a:rPr lang="en-IN" sz="1400" dirty="0" smtClean="0"/>
                        <a:t>Coarse</a:t>
                      </a:r>
                      <a:r>
                        <a:rPr lang="en-IN" sz="1400" baseline="0" dirty="0" smtClean="0"/>
                        <a:t> </a:t>
                      </a:r>
                      <a:r>
                        <a:rPr lang="en-IN" sz="1400" dirty="0" smtClean="0"/>
                        <a:t>texture</a:t>
                      </a:r>
                      <a:r>
                        <a:rPr lang="en-IN" sz="1400" baseline="0" dirty="0" smtClean="0"/>
                        <a:t> group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 dirty="0" smtClean="0"/>
                        <a:t>LAB</a:t>
                      </a:r>
                      <a:endParaRPr lang="en-IN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 smtClean="0"/>
                        <a:t>CLAY = 13.1499+1.9314*A-0.9949*B</a:t>
                      </a:r>
                      <a:endParaRPr lang="en-IN" sz="1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9411325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 dirty="0" smtClean="0"/>
                        <a:t>LCH</a:t>
                      </a:r>
                      <a:endParaRPr lang="en-IN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 smtClean="0"/>
                        <a:t>CLAY=50.7144-0.6012*H</a:t>
                      </a:r>
                      <a:endParaRPr lang="en-IN" sz="1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0086649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IN" sz="14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XYZ</a:t>
                      </a:r>
                      <a:endParaRPr lang="en-IN" sz="14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 smtClean="0"/>
                        <a:t>CLAY=13.2391+9.6244*X-11.8403*Y+3.2193*Z</a:t>
                      </a:r>
                      <a:endParaRPr lang="en-IN" sz="1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3595180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IN" sz="14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RGB</a:t>
                      </a:r>
                      <a:endParaRPr lang="en-IN" sz="14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 smtClean="0"/>
                        <a:t>MULTY COLINEARITY</a:t>
                      </a:r>
                      <a:endParaRPr lang="en-IN" sz="1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237690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 dirty="0" smtClean="0"/>
                        <a:t>CMYK</a:t>
                      </a:r>
                      <a:endParaRPr lang="en-IN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 smtClean="0"/>
                        <a:t>CLAY=83.3393*M-34.5839</a:t>
                      </a:r>
                      <a:endParaRPr lang="en-IN" sz="1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2326386"/>
                  </a:ext>
                </a:extLst>
              </a:tr>
            </a:tbl>
          </a:graphicData>
        </a:graphic>
      </p:graphicFrame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1549717"/>
              </p:ext>
            </p:extLst>
          </p:nvPr>
        </p:nvGraphicFramePr>
        <p:xfrm>
          <a:off x="462116" y="615696"/>
          <a:ext cx="10096156" cy="2255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95868">
                  <a:extLst>
                    <a:ext uri="{9D8B030D-6E8A-4147-A177-3AD203B41FA5}">
                      <a16:colId xmlns:a16="http://schemas.microsoft.com/office/drawing/2014/main" val="2288714238"/>
                    </a:ext>
                  </a:extLst>
                </a:gridCol>
                <a:gridCol w="1402080">
                  <a:extLst>
                    <a:ext uri="{9D8B030D-6E8A-4147-A177-3AD203B41FA5}">
                      <a16:colId xmlns:a16="http://schemas.microsoft.com/office/drawing/2014/main" val="1548211853"/>
                    </a:ext>
                  </a:extLst>
                </a:gridCol>
                <a:gridCol w="6998208">
                  <a:extLst>
                    <a:ext uri="{9D8B030D-6E8A-4147-A177-3AD203B41FA5}">
                      <a16:colId xmlns:a16="http://schemas.microsoft.com/office/drawing/2014/main" val="168669369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1400" b="1" dirty="0" smtClean="0"/>
                        <a:t>CLAY</a:t>
                      </a:r>
                      <a:endParaRPr lang="en-IN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 dirty="0" err="1" smtClean="0"/>
                        <a:t>Color</a:t>
                      </a:r>
                      <a:r>
                        <a:rPr lang="en-IN" sz="1400" b="1" dirty="0" smtClean="0"/>
                        <a:t> space</a:t>
                      </a:r>
                      <a:endParaRPr lang="en-IN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 smtClean="0"/>
                        <a:t>Prediction Equations</a:t>
                      </a:r>
                      <a:endParaRPr lang="en-IN" sz="1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2627626"/>
                  </a:ext>
                </a:extLst>
              </a:tr>
              <a:tr h="0">
                <a:tc rowSpan="5">
                  <a:txBody>
                    <a:bodyPr/>
                    <a:lstStyle/>
                    <a:p>
                      <a:r>
                        <a:rPr lang="en-IN" sz="1400" b="1" dirty="0" smtClean="0"/>
                        <a:t>Texture -3</a:t>
                      </a:r>
                      <a:r>
                        <a:rPr lang="en-IN" sz="1400" dirty="0" smtClean="0"/>
                        <a:t> </a:t>
                      </a:r>
                    </a:p>
                    <a:p>
                      <a:endParaRPr lang="en-IN" sz="1400" dirty="0" smtClean="0"/>
                    </a:p>
                    <a:p>
                      <a:r>
                        <a:rPr lang="en-IN" sz="1400" dirty="0" smtClean="0"/>
                        <a:t>Medium texture</a:t>
                      </a:r>
                      <a:r>
                        <a:rPr lang="en-IN" sz="1400" baseline="0" dirty="0" smtClean="0"/>
                        <a:t> group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 dirty="0" smtClean="0"/>
                        <a:t>LAB</a:t>
                      </a:r>
                      <a:endParaRPr lang="en-IN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 smtClean="0"/>
                        <a:t>CLAY=49.9230-1.023*L+1.6584*A</a:t>
                      </a:r>
                      <a:endParaRPr lang="en-IN" sz="1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9411325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 dirty="0" smtClean="0"/>
                        <a:t>LCH</a:t>
                      </a:r>
                      <a:endParaRPr lang="en-IN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 smtClean="0"/>
                        <a:t>CLAY=88.7073- 0.7872*L-0.5706*H</a:t>
                      </a:r>
                    </a:p>
                    <a:p>
                      <a:pPr algn="ctr"/>
                      <a:r>
                        <a:rPr lang="en-US" sz="1400" b="1" dirty="0" smtClean="0"/>
                        <a:t>CLAY=68.6168-1.2190*L</a:t>
                      </a:r>
                      <a:endParaRPr lang="en-IN" sz="1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0086649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IN" sz="14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XYZ</a:t>
                      </a:r>
                      <a:endParaRPr lang="en-IN" sz="14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 smtClean="0"/>
                        <a:t>CLAY=31.9687+8.9896*X10.4710*Y</a:t>
                      </a:r>
                    </a:p>
                    <a:p>
                      <a:pPr algn="ctr"/>
                      <a:r>
                        <a:rPr lang="en-US" sz="1400" b="1" dirty="0" smtClean="0"/>
                        <a:t>CLAY=39.1377-1.7018*Y</a:t>
                      </a:r>
                      <a:endParaRPr lang="en-IN" sz="1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3595180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IN" sz="14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RGB</a:t>
                      </a:r>
                      <a:endParaRPr lang="en-IN" sz="14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 smtClean="0"/>
                        <a:t>CLAY=64.1532-0.04903*G</a:t>
                      </a:r>
                      <a:endParaRPr lang="en-IN" sz="1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237690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 dirty="0" smtClean="0"/>
                        <a:t>CMYK</a:t>
                      </a:r>
                      <a:endParaRPr lang="en-IN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 smtClean="0"/>
                        <a:t>CLAY= 161.242*M-69.719</a:t>
                      </a:r>
                      <a:endParaRPr lang="en-IN" sz="1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23263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002050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456</TotalTime>
  <Words>478</Words>
  <Application>Microsoft Office PowerPoint</Application>
  <PresentationFormat>Widescreen</PresentationFormat>
  <Paragraphs>201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Mr. Justin George</dc:creator>
  <cp:lastModifiedBy>Mr Kamal Pandey</cp:lastModifiedBy>
  <cp:revision>31</cp:revision>
  <dcterms:created xsi:type="dcterms:W3CDTF">2021-11-11T11:06:46Z</dcterms:created>
  <dcterms:modified xsi:type="dcterms:W3CDTF">2022-08-17T09:32:28Z</dcterms:modified>
</cp:coreProperties>
</file>